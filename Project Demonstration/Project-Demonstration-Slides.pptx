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5" r:id="rId16"/>
    <p:sldId id="276" r:id="rId17"/>
    <p:sldId id="277" r:id="rId18"/>
    <p:sldId id="269" r:id="rId19"/>
    <p:sldId id="270" r:id="rId20"/>
    <p:sldId id="272" r:id="rId21"/>
    <p:sldId id="278" r:id="rId22"/>
    <p:sldId id="279" r:id="rId23"/>
    <p:sldId id="273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865"/>
  </p:normalViewPr>
  <p:slideViewPr>
    <p:cSldViewPr snapToGrid="0">
      <p:cViewPr varScale="1">
        <p:scale>
          <a:sx n="113" d="100"/>
          <a:sy n="113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780C5-B877-2FB0-AD33-D0FA3FEF7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7729C-931D-3392-8C73-E4C371771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C78E9-3942-63B2-F732-10E6B13E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C6378-4DA8-3436-BDB1-45CC2BAE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2ADCB-A89E-D0C6-56A4-0497EE7F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99E4-D5A9-9426-EF97-7593EC2E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DB7C7-4D6F-AA37-F7AA-C6407753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07F1-703C-B36B-D40E-1B3AB208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31E3A-01C3-357E-8210-644259C2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EAB8A-8BB3-A28C-BAC8-F47AA14F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19A8-AF6C-A7D3-FBF9-C4353CEA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7FAF2-2BA7-1B5C-172D-0E29258B6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02073-28B4-4BD4-387B-3AC70F5B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1EF52-4DD2-4506-25C9-4D099D74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3B8FE-35FC-5B3A-AF54-8047706A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2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908E-F755-4259-4698-43EB1172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4A2E-A04B-066D-3E2A-4A51E09CC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3BF17-9CB0-E365-E5D1-39FDBAD09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D6FFC-1394-CE8A-E9C3-15F000E0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4D7F8-4E7F-F31D-B971-A8E31AB4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8C567-8BD4-0D6B-01D4-CDFB0555D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9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F0EE-E8C4-3D78-85EF-D7C5D986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E153A-0DF1-7954-A8AB-08AC04704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FAAB9-581E-162B-A76A-A18631F17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AD4AD-CDC0-7689-4554-78BBEE866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7F20C-B9E5-DD1B-8306-EA89F8380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1A55E-2090-5378-F19D-189E3592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E0596-97CF-217C-970B-622EF4F2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7230E-AA62-A1B2-C6D7-C1D17BD5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4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BAE9-2073-35D1-15B6-15CC8172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87521E-02D0-F61E-0426-C6835166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D6613-0688-0252-615A-E2682230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562BA-8E21-083A-496E-5300E8EA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9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F4004-0566-2A18-43E1-3690D1B2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7E853-6F3F-D1A6-B626-8D8E6216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5E1E2-EF8A-ACB3-D3D2-CFEF223D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4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92EC-2BAD-0CE2-C70E-6F259F33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1FA3-7D1C-0917-6B98-024C3A0D9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19308-8E47-55CA-9673-D22A199D2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2378D-92D4-714D-E9AB-771A85D9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BCEB1-19B0-970F-BEA4-9226389C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C537C-0EFA-CEF1-FA6C-F6BFC5D2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53C6-B78E-0470-7BFD-3ACC8AC11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B9085-0E63-B8B5-BE05-1EA08ADFB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07081-3F28-C420-ADFA-44B8AF222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E02C9-EEF8-B5A5-1A68-5C555B51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C0944-650A-3FC5-AFD4-DFB80626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86514-D8D2-3B1D-F124-C0C59966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8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9429-09C8-1840-6AA0-5888D141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88213-1576-B5CF-EEC4-A0F2FEF5E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951C-0D77-6E32-FF28-8721F773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437A5-9DF2-E3E9-3A2B-66976F32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58F2-F539-3B8A-5C27-43B8DA66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7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E56D4-5190-2D70-46C0-68EC40751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424AF-62BC-885A-40BC-9AE90A13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29FA2-232E-0CEF-814E-2501E65D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2C36-4E49-196F-397E-B30BBF24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1377-E4D3-9B90-2D73-01E1F151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8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6089B-E047-7283-1597-24015D24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86CA1-B872-580C-58D7-A42F9B000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CD308-2E24-6DD3-E0E2-BF0E09EEE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DFB26-B279-1A47-ADE1-1F3B5D97A350}" type="datetimeFigureOut">
              <a:rPr lang="en-US" smtClean="0"/>
              <a:t>4/20/24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49BCF-87E1-9BCC-FAEA-8ADF6BE6A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3115-EE13-AF62-A243-1EBB78945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E86CB-0A81-534C-A88C-EE721C48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3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video game screen with a person in a red shirt and green columns&#10;&#10;Description automatically generated">
            <a:extLst>
              <a:ext uri="{FF2B5EF4-FFF2-40B4-BE49-F238E27FC236}">
                <a16:creationId xmlns:a16="http://schemas.microsoft.com/office/drawing/2014/main" id="{A4507602-DA51-0DF1-68EB-8A94E54A07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35605" r="1" b="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89FCDE-2178-B4CB-7525-3F24D825D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1686"/>
            <a:ext cx="9144000" cy="193603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CS 4200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09E43-CD38-3A19-539B-7169B0999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71826"/>
            <a:ext cx="9144000" cy="2085974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Aryan Miriyala</a:t>
            </a:r>
          </a:p>
          <a:p>
            <a:r>
              <a:rPr lang="en-US" b="1" dirty="0">
                <a:solidFill>
                  <a:srgbClr val="FFFFFF"/>
                </a:solidFill>
              </a:rPr>
              <a:t>Cedric Dortch</a:t>
            </a:r>
          </a:p>
          <a:p>
            <a:endParaRPr lang="en-US" b="1" dirty="0">
              <a:solidFill>
                <a:srgbClr val="FFFFFF"/>
              </a:solidFill>
            </a:endParaRPr>
          </a:p>
          <a:p>
            <a:r>
              <a:rPr lang="en-US" b="1" dirty="0">
                <a:solidFill>
                  <a:srgbClr val="FFFFFF"/>
                </a:solidFill>
              </a:rPr>
              <a:t>Super Mario Reinforcement Learning Agent</a:t>
            </a:r>
          </a:p>
          <a:p>
            <a:r>
              <a:rPr lang="en-US" b="1" dirty="0">
                <a:solidFill>
                  <a:srgbClr val="FFFFFF"/>
                </a:solidFill>
              </a:rPr>
              <a:t>Group 16</a:t>
            </a:r>
          </a:p>
        </p:txBody>
      </p:sp>
    </p:spTree>
    <p:extLst>
      <p:ext uri="{BB962C8B-B14F-4D97-AF65-F5344CB8AC3E}">
        <p14:creationId xmlns:p14="http://schemas.microsoft.com/office/powerpoint/2010/main" val="46737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D6DC-422C-A47D-8758-DCFCB2FA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 in this </a:t>
            </a:r>
            <a:br>
              <a:rPr lang="en-US" b="1" dirty="0"/>
            </a:br>
            <a:r>
              <a:rPr lang="en-US" b="1" dirty="0"/>
              <a:t>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39CD-87BE-ECE6-372D-E02CA5370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Super Mario?</a:t>
            </a:r>
          </a:p>
          <a:p>
            <a:r>
              <a:rPr lang="en-US" dirty="0"/>
              <a:t>Defining the Environment</a:t>
            </a:r>
          </a:p>
          <a:p>
            <a:r>
              <a:rPr lang="en-US" dirty="0"/>
              <a:t>Reinforcement Learning</a:t>
            </a:r>
          </a:p>
          <a:p>
            <a:r>
              <a:rPr lang="en-US" dirty="0"/>
              <a:t>Proximal Policy Optimization</a:t>
            </a:r>
          </a:p>
          <a:p>
            <a:r>
              <a:rPr lang="en-US" dirty="0"/>
              <a:t>Deep Q-Network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E9F7E-3F08-26AA-A58A-C6B795350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07" r="242"/>
          <a:stretch/>
        </p:blipFill>
        <p:spPr>
          <a:xfrm>
            <a:off x="5386388" y="10"/>
            <a:ext cx="68040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1423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7BB43-C84D-96AE-D7BC-DE1B10D1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Why Super Mario?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710E-EA5E-6E21-6E2F-8C3D731B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Popular game and an interesting topic in the context of AI</a:t>
            </a:r>
          </a:p>
          <a:p>
            <a:r>
              <a:rPr lang="en-US" sz="2200" dirty="0"/>
              <a:t>Dynamic environment with tons of strategies</a:t>
            </a:r>
          </a:p>
          <a:p>
            <a:r>
              <a:rPr lang="en-US" sz="2200" dirty="0"/>
              <a:t>The game is easily accessible through OpenAI Gym</a:t>
            </a:r>
          </a:p>
          <a:p>
            <a:r>
              <a:rPr lang="en-US" sz="2200" dirty="0"/>
              <a:t>Extensive studies have been made on Super Mario Ai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5A109-2249-506D-D36B-14CEE82B88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07" r="24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7982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A6C4AF-A789-07E7-75AD-316BFDCBB5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t="34668" b="183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B7B4AA-0264-A29B-4BF6-4A4E7AAB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Defining the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89E70-806F-5A7F-B5C3-3C386628C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Super Mario World PEAS representation</a:t>
            </a:r>
          </a:p>
          <a:p>
            <a:pPr lvl="1"/>
            <a:r>
              <a:rPr lang="en-US" dirty="0"/>
              <a:t>Performance: Reach the end of the level</a:t>
            </a:r>
          </a:p>
          <a:p>
            <a:pPr lvl="1"/>
            <a:r>
              <a:rPr lang="en-US" dirty="0"/>
              <a:t>Environment: The game world, the enemies, platforms, power ups</a:t>
            </a:r>
          </a:p>
          <a:p>
            <a:pPr lvl="1"/>
            <a:r>
              <a:rPr lang="en-US" dirty="0"/>
              <a:t>Actuators: The actions that are taken by Mario. We are restricted to SIMPLE_MOVEMENTS this time.</a:t>
            </a:r>
          </a:p>
          <a:p>
            <a:pPr lvl="1"/>
            <a:r>
              <a:rPr lang="en-US" dirty="0"/>
              <a:t>Sensors: Elements that provide information about the current state, position of Mario, obstacles and enemies.</a:t>
            </a:r>
          </a:p>
          <a:p>
            <a:r>
              <a:rPr lang="en-US" dirty="0"/>
              <a:t>Action Space is restricted to cut down the amount of data that needs to be consumed</a:t>
            </a:r>
          </a:p>
          <a:p>
            <a:r>
              <a:rPr lang="en-US" dirty="0"/>
              <a:t>A technique called gray scaling is used to cut down the data to be processed to 1/3rd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25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0CF7D9-654D-A669-ED90-8041C7484E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t="34668" b="183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0C5CCD-AE3F-2470-7AE0-754616E8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Defining the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A4FB-0EBF-6FEC-C0C2-A594E2891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utilized the concept of wrapping our environment in different contexts to make use of several tricks to train our model</a:t>
            </a:r>
          </a:p>
          <a:p>
            <a:r>
              <a:rPr lang="en-US" dirty="0"/>
              <a:t>Super Mario has a huge state space and action space, so brute force would take forever to converge</a:t>
            </a:r>
          </a:p>
          <a:p>
            <a:r>
              <a:rPr lang="en-US" dirty="0"/>
              <a:t>Learning rate: Telling our model how important the new information learned should be. We take a really low number for a gradual convergence to the optimal value</a:t>
            </a:r>
          </a:p>
          <a:p>
            <a:r>
              <a:rPr lang="en-US" dirty="0"/>
              <a:t>Gray Scaling, Frame Stacking, Resize Wrapping and Skip Framing are some concepts we are going to employ</a:t>
            </a:r>
          </a:p>
        </p:txBody>
      </p:sp>
    </p:spTree>
    <p:extLst>
      <p:ext uri="{BB962C8B-B14F-4D97-AF65-F5344CB8AC3E}">
        <p14:creationId xmlns:p14="http://schemas.microsoft.com/office/powerpoint/2010/main" val="230691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4979E-AA33-21A5-FA9D-39DF13BE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D15109-49A2-C693-9564-2B34A0A1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b="1">
                <a:solidFill>
                  <a:schemeClr val="bg1"/>
                </a:solidFill>
              </a:rPr>
              <a:t>Reinforcement Learning – Our Approach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2CBFF-7F31-4416-9446-C82A867E6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Learning how to maximize expected rewards based on observed transitions</a:t>
            </a:r>
          </a:p>
          <a:p>
            <a:r>
              <a:rPr lang="en-US" sz="2200" dirty="0">
                <a:solidFill>
                  <a:schemeClr val="bg1"/>
                </a:solidFill>
              </a:rPr>
              <a:t>A machine learning approach to help software make decisions</a:t>
            </a:r>
          </a:p>
          <a:p>
            <a:r>
              <a:rPr lang="en-US" sz="2200" dirty="0">
                <a:solidFill>
                  <a:schemeClr val="bg1"/>
                </a:solidFill>
              </a:rPr>
              <a:t>Imagine a Markov Decision Process, but we have no idea what the transition probabilities and reward functions are</a:t>
            </a:r>
          </a:p>
          <a:p>
            <a:r>
              <a:rPr lang="en-US" sz="2200" dirty="0">
                <a:solidFill>
                  <a:schemeClr val="bg1"/>
                </a:solidFill>
              </a:rPr>
              <a:t>The agent explores the environment within the actions provided and learns what the optimal actions for a state are to maximize the reward</a:t>
            </a:r>
          </a:p>
          <a:p>
            <a:r>
              <a:rPr lang="en-US" sz="2200" dirty="0">
                <a:solidFill>
                  <a:schemeClr val="bg1"/>
                </a:solidFill>
              </a:rPr>
              <a:t>We are going to talk about two popular algorithms that deal with reinforcement learning, especially when it comes to game training agents – Proximal Policy Optimization and Deep Q-Network</a:t>
            </a:r>
          </a:p>
        </p:txBody>
      </p:sp>
    </p:spTree>
    <p:extLst>
      <p:ext uri="{BB962C8B-B14F-4D97-AF65-F5344CB8AC3E}">
        <p14:creationId xmlns:p14="http://schemas.microsoft.com/office/powerpoint/2010/main" val="66816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87D6C-F192-C048-2D77-C3CF7C3D41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B3C35C-D60D-D564-4BC7-A3E83278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Let’s talk about a few strategies before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02A9B-4FA3-C4D4-A043-A4212EE7E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Gray Scaling: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 strategy that converts colored images to gray scales, which in turn reduces the amount of computation we need to do and store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RGB colors are converted to gray scale which reduces the amount of computation to a third</a:t>
            </a:r>
          </a:p>
          <a:p>
            <a:r>
              <a:rPr lang="en-US" dirty="0">
                <a:solidFill>
                  <a:srgbClr val="FFFFFF"/>
                </a:solidFill>
              </a:rPr>
              <a:t>Skip Framing: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Used to skip several frames in the environment that need to be processed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Computing data for each frame can become burdensome, so skipping a few frames reduces the load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Accelerates training our model</a:t>
            </a:r>
          </a:p>
        </p:txBody>
      </p:sp>
    </p:spTree>
    <p:extLst>
      <p:ext uri="{BB962C8B-B14F-4D97-AF65-F5344CB8AC3E}">
        <p14:creationId xmlns:p14="http://schemas.microsoft.com/office/powerpoint/2010/main" val="1307246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6E88D-C742-5403-DB7D-F62D400950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7B618-9122-2013-6E11-67A165F0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Let’s talk about a few strategies before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79EA4-E939-5633-EE19-02FD897C7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Resize Operation:</a:t>
            </a:r>
          </a:p>
          <a:p>
            <a:pPr lvl="1"/>
            <a:r>
              <a:rPr lang="en-US" dirty="0"/>
              <a:t>Resize the resolution of the frames processed to reduce data size</a:t>
            </a:r>
          </a:p>
          <a:p>
            <a:r>
              <a:rPr lang="en-US" dirty="0"/>
              <a:t>Frame Stacking:</a:t>
            </a:r>
          </a:p>
          <a:p>
            <a:pPr lvl="1"/>
            <a:r>
              <a:rPr lang="en-US" dirty="0"/>
              <a:t>Stacks multiple frames together for multi framed observation</a:t>
            </a:r>
          </a:p>
          <a:p>
            <a:pPr lvl="1"/>
            <a:r>
              <a:rPr lang="en-US" dirty="0"/>
              <a:t>Creates a sense of memory for the agent to look ahead and behind</a:t>
            </a:r>
          </a:p>
          <a:p>
            <a:pPr lvl="1"/>
            <a:r>
              <a:rPr lang="en-US" dirty="0"/>
              <a:t>Helps see the obstacles and enemies ahead</a:t>
            </a:r>
          </a:p>
          <a:p>
            <a:r>
              <a:rPr lang="en-US" dirty="0" err="1"/>
              <a:t>DummyVec</a:t>
            </a:r>
            <a:r>
              <a:rPr lang="en-US" dirty="0"/>
              <a:t> ENV:</a:t>
            </a:r>
          </a:p>
          <a:p>
            <a:pPr lvl="1"/>
            <a:r>
              <a:rPr lang="en-US" dirty="0"/>
              <a:t>Helps with the vectorization of the environment</a:t>
            </a:r>
          </a:p>
          <a:p>
            <a:pPr lvl="1"/>
            <a:r>
              <a:rPr lang="en-US" dirty="0"/>
              <a:t>Runs several copies of the environment in parallel</a:t>
            </a:r>
          </a:p>
        </p:txBody>
      </p:sp>
    </p:spTree>
    <p:extLst>
      <p:ext uri="{BB962C8B-B14F-4D97-AF65-F5344CB8AC3E}">
        <p14:creationId xmlns:p14="http://schemas.microsoft.com/office/powerpoint/2010/main" val="222831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91C52F-722D-45BD-8324-BBA719C05B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18C3ED-B854-0AF8-B007-8840A404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talk about these concepts?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303C-CCE2-B7A2-3377-1E62820FD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computation we will be performing to achieve a model close to optimal convergence is very high</a:t>
            </a:r>
          </a:p>
          <a:p>
            <a:r>
              <a:rPr lang="en-US" dirty="0"/>
              <a:t>Only way to do it with the resources available is to utilize strategies that reduce the amount of data that we look at</a:t>
            </a:r>
          </a:p>
          <a:p>
            <a:r>
              <a:rPr lang="en-US" dirty="0"/>
              <a:t>These strategies help us with doing exactly that</a:t>
            </a:r>
          </a:p>
          <a:p>
            <a:r>
              <a:rPr lang="en-US" dirty="0"/>
              <a:t>Even with all these strategies, running a training model is extremely difficult</a:t>
            </a:r>
          </a:p>
          <a:p>
            <a:r>
              <a:rPr lang="en-US" dirty="0"/>
              <a:t>We will talk about this later</a:t>
            </a:r>
          </a:p>
        </p:txBody>
      </p:sp>
    </p:spTree>
    <p:extLst>
      <p:ext uri="{BB962C8B-B14F-4D97-AF65-F5344CB8AC3E}">
        <p14:creationId xmlns:p14="http://schemas.microsoft.com/office/powerpoint/2010/main" val="3739298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F0DEE9-8374-8B86-8AB8-80FB69C97D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F30FDE-7D5E-BB52-051A-EDF0C54F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Policy (Convoluted Neural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97F13-6D5B-B18F-EF21-C4F17BDB5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specialized neural network architecture for analyzing visual data</a:t>
            </a:r>
          </a:p>
          <a:p>
            <a:r>
              <a:rPr lang="en-US" dirty="0"/>
              <a:t>Utilized convoluted layers to detect features such as the environment that it is in, the hurdles and the enemies</a:t>
            </a:r>
          </a:p>
          <a:p>
            <a:r>
              <a:rPr lang="en-US" dirty="0"/>
              <a:t>The policy automatically extracts from raw visual data</a:t>
            </a:r>
          </a:p>
          <a:p>
            <a:r>
              <a:rPr lang="en-US" dirty="0"/>
              <a:t>Very helpful for interpreting image frames, such as when gaming</a:t>
            </a:r>
          </a:p>
          <a:p>
            <a:r>
              <a:rPr lang="en-US" dirty="0"/>
              <a:t>Helps decision making for agents that are navigating complex environments</a:t>
            </a:r>
          </a:p>
        </p:txBody>
      </p:sp>
    </p:spTree>
    <p:extLst>
      <p:ext uri="{BB962C8B-B14F-4D97-AF65-F5344CB8AC3E}">
        <p14:creationId xmlns:p14="http://schemas.microsoft.com/office/powerpoint/2010/main" val="189479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8E222C-EC1B-42BA-266A-EBCA5CE6B7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27D51-87D1-9814-CB57-93143038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CNN Policy for a Mario agent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3572-D8B0-1DDD-8357-D852FA52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going to process the environment as a stack of frames or images that contain raw data for the agent</a:t>
            </a:r>
          </a:p>
          <a:p>
            <a:r>
              <a:rPr lang="en-US" dirty="0"/>
              <a:t>CNN policy analyzes game screen images to recognize important elements such as Mario, enemies, obstacles and power ups</a:t>
            </a:r>
          </a:p>
          <a:p>
            <a:r>
              <a:rPr lang="en-US" dirty="0"/>
              <a:t>Predicts optimal actions for the agent based on visual input </a:t>
            </a:r>
          </a:p>
          <a:p>
            <a:r>
              <a:rPr lang="en-US" dirty="0"/>
              <a:t>CNN policy with reinforcement learning algorithms helps our agent understand optimal actions</a:t>
            </a:r>
          </a:p>
          <a:p>
            <a:r>
              <a:rPr lang="en-US" dirty="0"/>
              <a:t>Continuous learning and adaptation helps with the decision-making process and improves on it </a:t>
            </a:r>
            <a:r>
              <a:rPr lang="en-US" dirty="0" err="1"/>
              <a:t>continously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95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5C998-805E-67EE-3EF6-C76C4D824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C1958-0C21-FDC0-CD8A-6AB59A14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chemeClr val="bg1"/>
                </a:solidFill>
              </a:rPr>
              <a:t>Proximal Policy Optimization (PPO)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D036E-3F5A-8716-CF28-3D11BAD45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Reinforcement Learning algorithm that trains agents to performs tasks where the actions impact future states and rewards</a:t>
            </a:r>
          </a:p>
          <a:p>
            <a:r>
              <a:rPr lang="en-US" sz="2200" dirty="0">
                <a:solidFill>
                  <a:schemeClr val="bg1"/>
                </a:solidFill>
              </a:rPr>
              <a:t>Focuses on optimizing the policy function mapping observed states to relevant actions</a:t>
            </a:r>
          </a:p>
          <a:p>
            <a:r>
              <a:rPr lang="en-US" sz="2200" dirty="0">
                <a:solidFill>
                  <a:schemeClr val="bg1"/>
                </a:solidFill>
              </a:rPr>
              <a:t>Iterative updates helps the agent learn to make better decisions, optimizing over time</a:t>
            </a:r>
          </a:p>
          <a:p>
            <a:r>
              <a:rPr lang="en-US" sz="2200" dirty="0">
                <a:solidFill>
                  <a:schemeClr val="bg1"/>
                </a:solidFill>
              </a:rPr>
              <a:t>Better for stability and efficiency in training neural networks </a:t>
            </a:r>
          </a:p>
          <a:p>
            <a:r>
              <a:rPr lang="en-US" sz="2200" dirty="0">
                <a:solidFill>
                  <a:schemeClr val="bg1"/>
                </a:solidFill>
              </a:rPr>
              <a:t>Clipping mechanism that limits the change in policy during each update, preventing large policy changes</a:t>
            </a:r>
          </a:p>
          <a:p>
            <a:r>
              <a:rPr lang="en-US" sz="2200" dirty="0">
                <a:solidFill>
                  <a:schemeClr val="bg1"/>
                </a:solidFill>
              </a:rPr>
              <a:t>Small step size, so convergence is reached at an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155351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5F4BC-27FA-68B9-ADCC-801AD166D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57" b="628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1BE70332-ECAF-47BB-8C7B-BD049452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37" y="875758"/>
            <a:ext cx="5219885" cy="5109539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6D9361-A35A-4DC8-AAB9-04FD2D6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986" y="673591"/>
            <a:ext cx="5565913" cy="54154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FC31AD-FBB3-4219-A758-D6F7594A0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734" y="1041621"/>
            <a:ext cx="4953365" cy="480152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5E8AD-2A4F-8029-945F-ACD316B6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870" y="1685677"/>
            <a:ext cx="4601625" cy="23626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Code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215482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18D79-D07B-D850-B6EE-89DC7B5B78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7E2EB8-9542-037E-D072-F126E60C8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Running the Training Model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8E84A18-0017-D38D-A5F9-92A7CC07D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" y="2205832"/>
            <a:ext cx="3848100" cy="3746500"/>
          </a:xfrm>
          <a:prstGeom prst="rect">
            <a:avLst/>
          </a:prstGeom>
        </p:spPr>
      </p:pic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6AD8FCAA-61D5-2788-A1BC-7FBAFD2798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473" y="2205833"/>
            <a:ext cx="3759431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9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11B78-C0FF-EC18-BA93-E91A5D05CB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1CABC9-89D8-0B4E-C8DE-5A12D03D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Let’s Talk Graphs – Episode Rewards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graph showing a line&#10;&#10;Description automatically generated">
            <a:extLst>
              <a:ext uri="{FF2B5EF4-FFF2-40B4-BE49-F238E27FC236}">
                <a16:creationId xmlns:a16="http://schemas.microsoft.com/office/drawing/2014/main" id="{79ED56EE-308D-15B4-950B-2CF350065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38382"/>
            <a:ext cx="10515600" cy="3309973"/>
          </a:xfrm>
        </p:spPr>
      </p:pic>
    </p:spTree>
    <p:extLst>
      <p:ext uri="{BB962C8B-B14F-4D97-AF65-F5344CB8AC3E}">
        <p14:creationId xmlns:p14="http://schemas.microsoft.com/office/powerpoint/2010/main" val="178106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419B9-7121-7856-AD8B-407C5E07A1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09CE9C-22D6-7342-1BD8-70EADCF55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Let’s Talk Graphs – Value Loss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 descr="A graph with a line&#10;&#10;Description automatically generated">
            <a:extLst>
              <a:ext uri="{FF2B5EF4-FFF2-40B4-BE49-F238E27FC236}">
                <a16:creationId xmlns:a16="http://schemas.microsoft.com/office/drawing/2014/main" id="{EF08F472-6431-14AD-AAFD-F8BDCB98B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61573"/>
            <a:ext cx="10515600" cy="3279441"/>
          </a:xfrm>
        </p:spPr>
      </p:pic>
    </p:spTree>
    <p:extLst>
      <p:ext uri="{BB962C8B-B14F-4D97-AF65-F5344CB8AC3E}">
        <p14:creationId xmlns:p14="http://schemas.microsoft.com/office/powerpoint/2010/main" val="1541071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969E48-6530-DB3C-46BF-668002BFEC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480E23-18DC-EC33-9605-E7B79D980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Let’s Talk Graphs – Entropy Loss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graph showing a line&#10;&#10;Description automatically generated with medium confidence">
            <a:extLst>
              <a:ext uri="{FF2B5EF4-FFF2-40B4-BE49-F238E27FC236}">
                <a16:creationId xmlns:a16="http://schemas.microsoft.com/office/drawing/2014/main" id="{3CA70C9E-809C-B9B4-EFA5-07D3ECBED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11941"/>
            <a:ext cx="10515600" cy="3362856"/>
          </a:xfrm>
        </p:spPr>
      </p:pic>
    </p:spTree>
    <p:extLst>
      <p:ext uri="{BB962C8B-B14F-4D97-AF65-F5344CB8AC3E}">
        <p14:creationId xmlns:p14="http://schemas.microsoft.com/office/powerpoint/2010/main" val="955668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52651-3AEF-9528-BFE8-BF055F7C2D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D437E-6746-85A9-E72E-B932A2C9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E762-BAD6-927B-2C85-E6D5E3E27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 having enough computation power and resources has been a big challenge for training this algorithm</a:t>
            </a:r>
          </a:p>
          <a:p>
            <a:r>
              <a:rPr lang="en-US" dirty="0">
                <a:solidFill>
                  <a:schemeClr val="bg1"/>
                </a:solidFill>
              </a:rPr>
              <a:t>As per our research, a total step size of 4 million is required for the PPO algorithm to converge at an optimal stage</a:t>
            </a:r>
          </a:p>
          <a:p>
            <a:r>
              <a:rPr lang="en-US" dirty="0">
                <a:solidFill>
                  <a:schemeClr val="bg1"/>
                </a:solidFill>
              </a:rPr>
              <a:t>That is where Mario can pass the level and achieve the dream run</a:t>
            </a:r>
          </a:p>
          <a:p>
            <a:r>
              <a:rPr lang="en-US" dirty="0">
                <a:solidFill>
                  <a:schemeClr val="bg1"/>
                </a:solidFill>
              </a:rPr>
              <a:t>I was able to have a total step size of 100,000 after which the algorithm breaks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8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C0199-BF53-CD44-B6CB-DB10332557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7CD77A-4269-8DF7-5F82-413BC5B2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Deep Q-Network (DQN)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59E4-475E-3A15-2B99-3FD8160EB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 variant of Q Learning algorithm popular with Reinforcement Learning for game agents</a:t>
            </a:r>
          </a:p>
          <a:p>
            <a:r>
              <a:rPr lang="en-US" sz="3200" dirty="0">
                <a:solidFill>
                  <a:schemeClr val="bg1"/>
                </a:solidFill>
              </a:rPr>
              <a:t>A CNN is used to approximate the Q function</a:t>
            </a:r>
          </a:p>
          <a:p>
            <a:r>
              <a:rPr lang="en-US" sz="3200" dirty="0">
                <a:solidFill>
                  <a:schemeClr val="bg1"/>
                </a:solidFill>
              </a:rPr>
              <a:t>Experiences are stored in a replay buffer and updates the Q Network</a:t>
            </a:r>
          </a:p>
          <a:p>
            <a:r>
              <a:rPr lang="en-US" sz="3200" dirty="0">
                <a:solidFill>
                  <a:schemeClr val="bg1"/>
                </a:solidFill>
              </a:rPr>
              <a:t>Stability is improved with a Target Network which is a copy of the Q-Network which is periodically updated with values from Q-Network</a:t>
            </a:r>
          </a:p>
        </p:txBody>
      </p:sp>
    </p:spTree>
    <p:extLst>
      <p:ext uri="{BB962C8B-B14F-4D97-AF65-F5344CB8AC3E}">
        <p14:creationId xmlns:p14="http://schemas.microsoft.com/office/powerpoint/2010/main" val="230882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5F4BC-27FA-68B9-ADCC-801AD166D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57" b="628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E70332-ECAF-47BB-8C7B-BD049452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37" y="875758"/>
            <a:ext cx="5219885" cy="5109539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6D9361-A35A-4DC8-AAB9-04FD2D6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986" y="673591"/>
            <a:ext cx="5565913" cy="54154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FC31AD-FBB3-4219-A758-D6F7594A0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734" y="1041621"/>
            <a:ext cx="4953365" cy="480152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5E8AD-2A4F-8029-945F-ACD316B6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871" y="1685677"/>
            <a:ext cx="4181444" cy="23626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Code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930193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video game screen with a green pillar and clouds&#10;&#10;Description automatically generated">
            <a:extLst>
              <a:ext uri="{FF2B5EF4-FFF2-40B4-BE49-F238E27FC236}">
                <a16:creationId xmlns:a16="http://schemas.microsoft.com/office/drawing/2014/main" id="{6B793F77-62DF-0E91-0548-447F7B13C4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8AD0F-EE24-ADD8-4B19-60B605FE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Let’s Talk Graphs – Episode Rewards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showing a line&#10;&#10;Description automatically generated">
            <a:extLst>
              <a:ext uri="{FF2B5EF4-FFF2-40B4-BE49-F238E27FC236}">
                <a16:creationId xmlns:a16="http://schemas.microsoft.com/office/drawing/2014/main" id="{A8EE7268-5D8A-FAF2-F9EA-CA0871851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32777"/>
            <a:ext cx="10515600" cy="3321184"/>
          </a:xfrm>
        </p:spPr>
      </p:pic>
    </p:spTree>
    <p:extLst>
      <p:ext uri="{BB962C8B-B14F-4D97-AF65-F5344CB8AC3E}">
        <p14:creationId xmlns:p14="http://schemas.microsoft.com/office/powerpoint/2010/main" val="771208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video game screen with a green pillar and clouds&#10;&#10;Description automatically generated">
            <a:extLst>
              <a:ext uri="{FF2B5EF4-FFF2-40B4-BE49-F238E27FC236}">
                <a16:creationId xmlns:a16="http://schemas.microsoft.com/office/drawing/2014/main" id="{12F9FBBE-DBF5-8D78-22DC-B55065946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E906ED-77E5-1D8E-78ED-0093E60A9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Let’s Talk Graphs – Exploration Rate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1D296CFA-6781-CE13-FDC3-B7F2CD5B3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71907"/>
            <a:ext cx="10515600" cy="3442924"/>
          </a:xfrm>
        </p:spPr>
      </p:pic>
    </p:spTree>
    <p:extLst>
      <p:ext uri="{BB962C8B-B14F-4D97-AF65-F5344CB8AC3E}">
        <p14:creationId xmlns:p14="http://schemas.microsoft.com/office/powerpoint/2010/main" val="251390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AE9A5-F099-294A-0186-40A98E9ADD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A760B6-826C-4124-75CE-AEE694CA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F7C2-3CBD-C897-85E5-A532F3BED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Similar challenges compared to PPO</a:t>
            </a:r>
          </a:p>
          <a:p>
            <a:r>
              <a:rPr lang="en-US" dirty="0">
                <a:solidFill>
                  <a:schemeClr val="bg1"/>
                </a:solidFill>
              </a:rPr>
              <a:t>Computation power and resources that we have are not enough to run the training model</a:t>
            </a:r>
          </a:p>
          <a:p>
            <a:r>
              <a:rPr lang="en-US" dirty="0">
                <a:solidFill>
                  <a:schemeClr val="bg1"/>
                </a:solidFill>
              </a:rPr>
              <a:t>Model converges to the optimal value after 50,000 iterations which will take days to run on a computer with high enough capabilities</a:t>
            </a:r>
          </a:p>
          <a:p>
            <a:r>
              <a:rPr lang="en-US" dirty="0">
                <a:solidFill>
                  <a:schemeClr val="bg1"/>
                </a:solidFill>
              </a:rPr>
              <a:t>Our school laptops are not able to run such high number of iterations</a:t>
            </a:r>
          </a:p>
          <a:p>
            <a:r>
              <a:rPr lang="en-US" dirty="0">
                <a:solidFill>
                  <a:schemeClr val="bg1"/>
                </a:solidFill>
              </a:rPr>
              <a:t>RAM is not enough</a:t>
            </a:r>
          </a:p>
        </p:txBody>
      </p:sp>
    </p:spTree>
    <p:extLst>
      <p:ext uri="{BB962C8B-B14F-4D97-AF65-F5344CB8AC3E}">
        <p14:creationId xmlns:p14="http://schemas.microsoft.com/office/powerpoint/2010/main" val="2956024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video game screen with a green pillar and clouds&#10;&#10;Description automatically generated">
            <a:extLst>
              <a:ext uri="{FF2B5EF4-FFF2-40B4-BE49-F238E27FC236}">
                <a16:creationId xmlns:a16="http://schemas.microsoft.com/office/drawing/2014/main" id="{69669329-DD98-8823-3F36-33683A88AA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585E9-F5F4-1148-3C84-5A5F1C79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 dirty="0">
                <a:solidFill>
                  <a:schemeClr val="bg1"/>
                </a:solidFill>
              </a:rPr>
              <a:t>Conclusion - Lessons Learned – PPO vs DQN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C759D-855B-298C-53B7-4C2E372ED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Theoretically DQN is supposed to perform better than PPO, and it seems like through our exploration this has been the case</a:t>
            </a:r>
          </a:p>
          <a:p>
            <a:r>
              <a:rPr lang="en-US" sz="3200" dirty="0">
                <a:solidFill>
                  <a:schemeClr val="bg1"/>
                </a:solidFill>
              </a:rPr>
              <a:t>DQN algorithm took necessary actions and did it more accurately</a:t>
            </a:r>
          </a:p>
          <a:p>
            <a:r>
              <a:rPr lang="en-US" sz="3200" dirty="0">
                <a:solidFill>
                  <a:schemeClr val="bg1"/>
                </a:solidFill>
              </a:rPr>
              <a:t>Although, we were not able to reach the upper limits of training because of lack of resources, it has in general been true</a:t>
            </a:r>
          </a:p>
        </p:txBody>
      </p:sp>
    </p:spTree>
    <p:extLst>
      <p:ext uri="{BB962C8B-B14F-4D97-AF65-F5344CB8AC3E}">
        <p14:creationId xmlns:p14="http://schemas.microsoft.com/office/powerpoint/2010/main" val="401988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30804-4693-4B3B-5EA6-7BABC08097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8F0949-0443-91DE-CF14-E1F9A5D3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Conclusion – Wrapper Strategies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7BF8C-2947-3DEB-7501-27F8C5ED1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Wrapping the environment and the agent within a few strategies has been very interesting</a:t>
            </a:r>
          </a:p>
          <a:p>
            <a:r>
              <a:rPr lang="en-US" dirty="0">
                <a:solidFill>
                  <a:schemeClr val="bg1"/>
                </a:solidFill>
              </a:rPr>
              <a:t>We reduced the computational load for by about a half!</a:t>
            </a:r>
          </a:p>
          <a:p>
            <a:r>
              <a:rPr lang="en-US" dirty="0">
                <a:solidFill>
                  <a:schemeClr val="bg1"/>
                </a:solidFill>
              </a:rPr>
              <a:t>Gray scaling and Frame Resizing have helped us achieve this idea of cutting down the data processed without hurting the results we would achieve</a:t>
            </a:r>
          </a:p>
          <a:p>
            <a:r>
              <a:rPr lang="en-US" dirty="0">
                <a:solidFill>
                  <a:schemeClr val="bg1"/>
                </a:solidFill>
              </a:rPr>
              <a:t>Frame Stacking wrapper helped us achieve a memory-like feature for the agent and helped with seeing further</a:t>
            </a:r>
          </a:p>
        </p:txBody>
      </p:sp>
    </p:spTree>
    <p:extLst>
      <p:ext uri="{BB962C8B-B14F-4D97-AF65-F5344CB8AC3E}">
        <p14:creationId xmlns:p14="http://schemas.microsoft.com/office/powerpoint/2010/main" val="238121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5CB29-A5D4-D991-195C-EFD02E6576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35865" b="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49940-E31B-F990-DEC4-1905540A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Conclusion – Overall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3F418-923E-DAAB-5630-1D47AD95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learned about numerous concept of reinforcement learning and how to evaluate rewards</a:t>
            </a:r>
          </a:p>
          <a:p>
            <a:r>
              <a:rPr lang="en-US" dirty="0">
                <a:solidFill>
                  <a:schemeClr val="bg1"/>
                </a:solidFill>
              </a:rPr>
              <a:t>The reward function for Mario is very complex, considering how many different thing we need to consider</a:t>
            </a:r>
          </a:p>
          <a:p>
            <a:r>
              <a:rPr lang="en-US" dirty="0">
                <a:solidFill>
                  <a:schemeClr val="bg1"/>
                </a:solidFill>
              </a:rPr>
              <a:t>It was designed by the writers of PPO and DQN respectively and the software for the reward function is owned by them</a:t>
            </a:r>
          </a:p>
          <a:p>
            <a:r>
              <a:rPr lang="en-US" dirty="0">
                <a:solidFill>
                  <a:schemeClr val="bg1"/>
                </a:solidFill>
              </a:rPr>
              <a:t>Both the algorithms do a very good job at trying achieve convergence, DQN being the overall better, but this decision is heavily based on the action space chosen and the description of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420007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1283</Words>
  <Application>Microsoft Macintosh PowerPoint</Application>
  <PresentationFormat>Widescreen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Meiryo</vt:lpstr>
      <vt:lpstr>Arial</vt:lpstr>
      <vt:lpstr>Calibri</vt:lpstr>
      <vt:lpstr>Calibri Light</vt:lpstr>
      <vt:lpstr>Office Theme</vt:lpstr>
      <vt:lpstr>CS 4200 Final Project</vt:lpstr>
      <vt:lpstr>Contents in this  Presentation</vt:lpstr>
      <vt:lpstr>Why Super Mario?</vt:lpstr>
      <vt:lpstr>Defining the environment</vt:lpstr>
      <vt:lpstr>Defining the environment</vt:lpstr>
      <vt:lpstr>Reinforcement Learning – Our Approach</vt:lpstr>
      <vt:lpstr>Let’s talk about a few strategies before</vt:lpstr>
      <vt:lpstr>Let’s talk about a few strategies before</vt:lpstr>
      <vt:lpstr>Why talk about these concepts?</vt:lpstr>
      <vt:lpstr>CNN Policy (Convoluted Neural Network)</vt:lpstr>
      <vt:lpstr>CNN Policy for a Mario agent</vt:lpstr>
      <vt:lpstr>Proximal Policy Optimization (PPO)</vt:lpstr>
      <vt:lpstr>Code Demonstration</vt:lpstr>
      <vt:lpstr>Running the Training Model</vt:lpstr>
      <vt:lpstr>Let’s Talk Graphs – Episode Rewards</vt:lpstr>
      <vt:lpstr>Let’s Talk Graphs – Value Loss</vt:lpstr>
      <vt:lpstr>Let’s Talk Graphs – Entropy Loss</vt:lpstr>
      <vt:lpstr>Challenges</vt:lpstr>
      <vt:lpstr>Deep Q-Network (DQN)</vt:lpstr>
      <vt:lpstr>Code Demonstration</vt:lpstr>
      <vt:lpstr>Let’s Talk Graphs – Episode Rewards</vt:lpstr>
      <vt:lpstr>Let’s Talk Graphs – Exploration Rate</vt:lpstr>
      <vt:lpstr>Challenges</vt:lpstr>
      <vt:lpstr>Conclusion - Lessons Learned – PPO vs DQN</vt:lpstr>
      <vt:lpstr>Conclusion – Wrapper Strategies</vt:lpstr>
      <vt:lpstr>Conclusion – Overall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4200 Final Project</dc:title>
  <dc:creator>Aryan Prasad Miriyala</dc:creator>
  <cp:lastModifiedBy>Aryan Prasad Miriyala</cp:lastModifiedBy>
  <cp:revision>2</cp:revision>
  <dcterms:created xsi:type="dcterms:W3CDTF">2024-04-20T21:33:55Z</dcterms:created>
  <dcterms:modified xsi:type="dcterms:W3CDTF">2024-04-22T01:50:14Z</dcterms:modified>
</cp:coreProperties>
</file>